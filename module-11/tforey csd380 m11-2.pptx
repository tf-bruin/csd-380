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A1A1CE-3C56-4286-9F27-85CF8DE721E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809682-D059-4B13-9893-6392D823D99B}">
      <dgm:prSet/>
      <dgm:spPr/>
      <dgm:t>
        <a:bodyPr/>
        <a:lstStyle/>
        <a:p>
          <a:r>
            <a:rPr lang="en-US"/>
            <a:t>With how valuable source code is to an organization, it’s important to protect it from bad actors.</a:t>
          </a:r>
        </a:p>
      </dgm:t>
    </dgm:pt>
    <dgm:pt modelId="{D37FF233-97A1-4930-8508-C8ADEF2A9313}" type="parTrans" cxnId="{0E41BA75-3275-481B-9D0A-6FBFD0B8C4CE}">
      <dgm:prSet/>
      <dgm:spPr/>
      <dgm:t>
        <a:bodyPr/>
        <a:lstStyle/>
        <a:p>
          <a:endParaRPr lang="en-US"/>
        </a:p>
      </dgm:t>
    </dgm:pt>
    <dgm:pt modelId="{946B826B-8C16-463A-8785-15D597AFF557}" type="sibTrans" cxnId="{0E41BA75-3275-481B-9D0A-6FBFD0B8C4CE}">
      <dgm:prSet/>
      <dgm:spPr/>
      <dgm:t>
        <a:bodyPr/>
        <a:lstStyle/>
        <a:p>
          <a:endParaRPr lang="en-US"/>
        </a:p>
      </dgm:t>
    </dgm:pt>
    <dgm:pt modelId="{77870FAE-73EF-4147-B9A1-FCF55B8FC754}">
      <dgm:prSet/>
      <dgm:spPr/>
      <dgm:t>
        <a:bodyPr/>
        <a:lstStyle/>
        <a:p>
          <a:r>
            <a:rPr lang="en-US"/>
            <a:t>A singular layer of security is rarely enough, so it’s better to use defense in depth – multiple security options that can build on top of each other.</a:t>
          </a:r>
        </a:p>
      </dgm:t>
    </dgm:pt>
    <dgm:pt modelId="{5A61D36A-AA13-4F2B-B11E-FAC49A52FBE5}" type="parTrans" cxnId="{02116526-B0B7-4F84-A1B6-375EADA0B8E2}">
      <dgm:prSet/>
      <dgm:spPr/>
      <dgm:t>
        <a:bodyPr/>
        <a:lstStyle/>
        <a:p>
          <a:endParaRPr lang="en-US"/>
        </a:p>
      </dgm:t>
    </dgm:pt>
    <dgm:pt modelId="{BD9526AA-0CB6-4BA5-B4A0-E915F863FD77}" type="sibTrans" cxnId="{02116526-B0B7-4F84-A1B6-375EADA0B8E2}">
      <dgm:prSet/>
      <dgm:spPr/>
      <dgm:t>
        <a:bodyPr/>
        <a:lstStyle/>
        <a:p>
          <a:endParaRPr lang="en-US"/>
        </a:p>
      </dgm:t>
    </dgm:pt>
    <dgm:pt modelId="{17D95888-F022-42A0-8A83-54809A8B571E}">
      <dgm:prSet/>
      <dgm:spPr/>
      <dgm:t>
        <a:bodyPr/>
        <a:lstStyle/>
        <a:p>
          <a:r>
            <a:rPr lang="en-US"/>
            <a:t>Without proper security measures, organizations are vulnerable to threats like data breaches and software theft.</a:t>
          </a:r>
        </a:p>
      </dgm:t>
    </dgm:pt>
    <dgm:pt modelId="{819A201B-5CFA-45CD-B3F6-C7CCC11B9442}" type="parTrans" cxnId="{E3D4A56A-7EF9-4A1F-976E-83CB9BA0B1BF}">
      <dgm:prSet/>
      <dgm:spPr/>
      <dgm:t>
        <a:bodyPr/>
        <a:lstStyle/>
        <a:p>
          <a:endParaRPr lang="en-US"/>
        </a:p>
      </dgm:t>
    </dgm:pt>
    <dgm:pt modelId="{C84BA05F-5006-4A86-8BF6-2149635A64F2}" type="sibTrans" cxnId="{E3D4A56A-7EF9-4A1F-976E-83CB9BA0B1BF}">
      <dgm:prSet/>
      <dgm:spPr/>
      <dgm:t>
        <a:bodyPr/>
        <a:lstStyle/>
        <a:p>
          <a:endParaRPr lang="en-US"/>
        </a:p>
      </dgm:t>
    </dgm:pt>
    <dgm:pt modelId="{C0115E97-1DBC-47BB-835D-12C47D286667}" type="pres">
      <dgm:prSet presAssocID="{BCA1A1CE-3C56-4286-9F27-85CF8DE721E9}" presName="root" presStyleCnt="0">
        <dgm:presLayoutVars>
          <dgm:dir/>
          <dgm:resizeHandles val="exact"/>
        </dgm:presLayoutVars>
      </dgm:prSet>
      <dgm:spPr/>
    </dgm:pt>
    <dgm:pt modelId="{D6BCE885-9675-45D7-AC57-FA253550188C}" type="pres">
      <dgm:prSet presAssocID="{43809682-D059-4B13-9893-6392D823D99B}" presName="compNode" presStyleCnt="0"/>
      <dgm:spPr/>
    </dgm:pt>
    <dgm:pt modelId="{28C46001-F5BF-4DB0-B691-ED01FD28A1E1}" type="pres">
      <dgm:prSet presAssocID="{43809682-D059-4B13-9893-6392D823D99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DE51B6C4-0B66-4C99-BDA3-B7C1E9449C98}" type="pres">
      <dgm:prSet presAssocID="{43809682-D059-4B13-9893-6392D823D99B}" presName="spaceRect" presStyleCnt="0"/>
      <dgm:spPr/>
    </dgm:pt>
    <dgm:pt modelId="{BEE329FE-204C-4081-BAFF-687FA53BE0D5}" type="pres">
      <dgm:prSet presAssocID="{43809682-D059-4B13-9893-6392D823D99B}" presName="textRect" presStyleLbl="revTx" presStyleIdx="0" presStyleCnt="3">
        <dgm:presLayoutVars>
          <dgm:chMax val="1"/>
          <dgm:chPref val="1"/>
        </dgm:presLayoutVars>
      </dgm:prSet>
      <dgm:spPr/>
    </dgm:pt>
    <dgm:pt modelId="{675F161D-EF10-4BAA-8335-80F57720A70E}" type="pres">
      <dgm:prSet presAssocID="{946B826B-8C16-463A-8785-15D597AFF557}" presName="sibTrans" presStyleCnt="0"/>
      <dgm:spPr/>
    </dgm:pt>
    <dgm:pt modelId="{2F40B3BF-A078-4F2B-A92E-39EFF8A415F6}" type="pres">
      <dgm:prSet presAssocID="{77870FAE-73EF-4147-B9A1-FCF55B8FC754}" presName="compNode" presStyleCnt="0"/>
      <dgm:spPr/>
    </dgm:pt>
    <dgm:pt modelId="{A1119817-06B2-4B30-8A55-EBC071CBA410}" type="pres">
      <dgm:prSet presAssocID="{77870FAE-73EF-4147-B9A1-FCF55B8FC7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7FCC4203-292C-48FE-BE90-00A3E03E2F53}" type="pres">
      <dgm:prSet presAssocID="{77870FAE-73EF-4147-B9A1-FCF55B8FC754}" presName="spaceRect" presStyleCnt="0"/>
      <dgm:spPr/>
    </dgm:pt>
    <dgm:pt modelId="{4F93E486-973F-4284-81BA-1C1313E1F7EF}" type="pres">
      <dgm:prSet presAssocID="{77870FAE-73EF-4147-B9A1-FCF55B8FC754}" presName="textRect" presStyleLbl="revTx" presStyleIdx="1" presStyleCnt="3">
        <dgm:presLayoutVars>
          <dgm:chMax val="1"/>
          <dgm:chPref val="1"/>
        </dgm:presLayoutVars>
      </dgm:prSet>
      <dgm:spPr/>
    </dgm:pt>
    <dgm:pt modelId="{CC58E62F-05DE-4D91-B684-B20DB3C1AEC7}" type="pres">
      <dgm:prSet presAssocID="{BD9526AA-0CB6-4BA5-B4A0-E915F863FD77}" presName="sibTrans" presStyleCnt="0"/>
      <dgm:spPr/>
    </dgm:pt>
    <dgm:pt modelId="{68D5777B-9A33-4892-9E70-E317E470C712}" type="pres">
      <dgm:prSet presAssocID="{17D95888-F022-42A0-8A83-54809A8B571E}" presName="compNode" presStyleCnt="0"/>
      <dgm:spPr/>
    </dgm:pt>
    <dgm:pt modelId="{4733F519-EC0D-469B-A286-DA63913ECE48}" type="pres">
      <dgm:prSet presAssocID="{17D95888-F022-42A0-8A83-54809A8B57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0360EA7-BE7C-44A8-8A37-AB9AC620A614}" type="pres">
      <dgm:prSet presAssocID="{17D95888-F022-42A0-8A83-54809A8B571E}" presName="spaceRect" presStyleCnt="0"/>
      <dgm:spPr/>
    </dgm:pt>
    <dgm:pt modelId="{4CFEBF23-0AD0-4D19-981F-A1C992D8C4E4}" type="pres">
      <dgm:prSet presAssocID="{17D95888-F022-42A0-8A83-54809A8B571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2116526-B0B7-4F84-A1B6-375EADA0B8E2}" srcId="{BCA1A1CE-3C56-4286-9F27-85CF8DE721E9}" destId="{77870FAE-73EF-4147-B9A1-FCF55B8FC754}" srcOrd="1" destOrd="0" parTransId="{5A61D36A-AA13-4F2B-B11E-FAC49A52FBE5}" sibTransId="{BD9526AA-0CB6-4BA5-B4A0-E915F863FD77}"/>
    <dgm:cxn modelId="{17ECD036-438A-4599-B1D5-F704756548BD}" type="presOf" srcId="{BCA1A1CE-3C56-4286-9F27-85CF8DE721E9}" destId="{C0115E97-1DBC-47BB-835D-12C47D286667}" srcOrd="0" destOrd="0" presId="urn:microsoft.com/office/officeart/2018/2/layout/IconLabelList"/>
    <dgm:cxn modelId="{E3D4A56A-7EF9-4A1F-976E-83CB9BA0B1BF}" srcId="{BCA1A1CE-3C56-4286-9F27-85CF8DE721E9}" destId="{17D95888-F022-42A0-8A83-54809A8B571E}" srcOrd="2" destOrd="0" parTransId="{819A201B-5CFA-45CD-B3F6-C7CCC11B9442}" sibTransId="{C84BA05F-5006-4A86-8BF6-2149635A64F2}"/>
    <dgm:cxn modelId="{0E41BA75-3275-481B-9D0A-6FBFD0B8C4CE}" srcId="{BCA1A1CE-3C56-4286-9F27-85CF8DE721E9}" destId="{43809682-D059-4B13-9893-6392D823D99B}" srcOrd="0" destOrd="0" parTransId="{D37FF233-97A1-4930-8508-C8ADEF2A9313}" sibTransId="{946B826B-8C16-463A-8785-15D597AFF557}"/>
    <dgm:cxn modelId="{70D69C76-AE45-45A2-8077-6C8260560D87}" type="presOf" srcId="{77870FAE-73EF-4147-B9A1-FCF55B8FC754}" destId="{4F93E486-973F-4284-81BA-1C1313E1F7EF}" srcOrd="0" destOrd="0" presId="urn:microsoft.com/office/officeart/2018/2/layout/IconLabelList"/>
    <dgm:cxn modelId="{A9C417C5-20E2-4C76-863E-8F761470F76D}" type="presOf" srcId="{43809682-D059-4B13-9893-6392D823D99B}" destId="{BEE329FE-204C-4081-BAFF-687FA53BE0D5}" srcOrd="0" destOrd="0" presId="urn:microsoft.com/office/officeart/2018/2/layout/IconLabelList"/>
    <dgm:cxn modelId="{AF61D0F2-FF98-4CCB-83CB-BCF8299B9452}" type="presOf" srcId="{17D95888-F022-42A0-8A83-54809A8B571E}" destId="{4CFEBF23-0AD0-4D19-981F-A1C992D8C4E4}" srcOrd="0" destOrd="0" presId="urn:microsoft.com/office/officeart/2018/2/layout/IconLabelList"/>
    <dgm:cxn modelId="{5561C510-87BE-46BA-9A1F-634FAE6B5316}" type="presParOf" srcId="{C0115E97-1DBC-47BB-835D-12C47D286667}" destId="{D6BCE885-9675-45D7-AC57-FA253550188C}" srcOrd="0" destOrd="0" presId="urn:microsoft.com/office/officeart/2018/2/layout/IconLabelList"/>
    <dgm:cxn modelId="{C52F82A3-9436-415B-999A-6D6F86A8DB88}" type="presParOf" srcId="{D6BCE885-9675-45D7-AC57-FA253550188C}" destId="{28C46001-F5BF-4DB0-B691-ED01FD28A1E1}" srcOrd="0" destOrd="0" presId="urn:microsoft.com/office/officeart/2018/2/layout/IconLabelList"/>
    <dgm:cxn modelId="{4F355AF3-9F4F-45D6-B6BD-BA7672874AEE}" type="presParOf" srcId="{D6BCE885-9675-45D7-AC57-FA253550188C}" destId="{DE51B6C4-0B66-4C99-BDA3-B7C1E9449C98}" srcOrd="1" destOrd="0" presId="urn:microsoft.com/office/officeart/2018/2/layout/IconLabelList"/>
    <dgm:cxn modelId="{33927DF8-2373-4C64-8051-5FC815E0235F}" type="presParOf" srcId="{D6BCE885-9675-45D7-AC57-FA253550188C}" destId="{BEE329FE-204C-4081-BAFF-687FA53BE0D5}" srcOrd="2" destOrd="0" presId="urn:microsoft.com/office/officeart/2018/2/layout/IconLabelList"/>
    <dgm:cxn modelId="{A7CF6E8D-AD6A-4559-B496-8D934E71C26A}" type="presParOf" srcId="{C0115E97-1DBC-47BB-835D-12C47D286667}" destId="{675F161D-EF10-4BAA-8335-80F57720A70E}" srcOrd="1" destOrd="0" presId="urn:microsoft.com/office/officeart/2018/2/layout/IconLabelList"/>
    <dgm:cxn modelId="{1EA66A17-54C0-405D-A516-8473DF84C070}" type="presParOf" srcId="{C0115E97-1DBC-47BB-835D-12C47D286667}" destId="{2F40B3BF-A078-4F2B-A92E-39EFF8A415F6}" srcOrd="2" destOrd="0" presId="urn:microsoft.com/office/officeart/2018/2/layout/IconLabelList"/>
    <dgm:cxn modelId="{0A4F13A8-6957-490A-B5E6-0499EAF9E546}" type="presParOf" srcId="{2F40B3BF-A078-4F2B-A92E-39EFF8A415F6}" destId="{A1119817-06B2-4B30-8A55-EBC071CBA410}" srcOrd="0" destOrd="0" presId="urn:microsoft.com/office/officeart/2018/2/layout/IconLabelList"/>
    <dgm:cxn modelId="{024E7FA3-6232-4D3C-AB0D-1F640EE98B9E}" type="presParOf" srcId="{2F40B3BF-A078-4F2B-A92E-39EFF8A415F6}" destId="{7FCC4203-292C-48FE-BE90-00A3E03E2F53}" srcOrd="1" destOrd="0" presId="urn:microsoft.com/office/officeart/2018/2/layout/IconLabelList"/>
    <dgm:cxn modelId="{EAE14B6F-16C2-4B65-8A46-54D5B7C88CB1}" type="presParOf" srcId="{2F40B3BF-A078-4F2B-A92E-39EFF8A415F6}" destId="{4F93E486-973F-4284-81BA-1C1313E1F7EF}" srcOrd="2" destOrd="0" presId="urn:microsoft.com/office/officeart/2018/2/layout/IconLabelList"/>
    <dgm:cxn modelId="{B8A4EEEF-58A8-4D4E-A679-90F4C9F9C82E}" type="presParOf" srcId="{C0115E97-1DBC-47BB-835D-12C47D286667}" destId="{CC58E62F-05DE-4D91-B684-B20DB3C1AEC7}" srcOrd="3" destOrd="0" presId="urn:microsoft.com/office/officeart/2018/2/layout/IconLabelList"/>
    <dgm:cxn modelId="{54C52A98-5CB4-4B00-95EB-D56941BD3748}" type="presParOf" srcId="{C0115E97-1DBC-47BB-835D-12C47D286667}" destId="{68D5777B-9A33-4892-9E70-E317E470C712}" srcOrd="4" destOrd="0" presId="urn:microsoft.com/office/officeart/2018/2/layout/IconLabelList"/>
    <dgm:cxn modelId="{4717A09B-6BB9-4519-B010-CF2EAB78A1E1}" type="presParOf" srcId="{68D5777B-9A33-4892-9E70-E317E470C712}" destId="{4733F519-EC0D-469B-A286-DA63913ECE48}" srcOrd="0" destOrd="0" presId="urn:microsoft.com/office/officeart/2018/2/layout/IconLabelList"/>
    <dgm:cxn modelId="{56B49BFB-B092-454A-B84E-45D04F8EB2BA}" type="presParOf" srcId="{68D5777B-9A33-4892-9E70-E317E470C712}" destId="{70360EA7-BE7C-44A8-8A37-AB9AC620A614}" srcOrd="1" destOrd="0" presId="urn:microsoft.com/office/officeart/2018/2/layout/IconLabelList"/>
    <dgm:cxn modelId="{08594C04-25A8-4965-B6CC-063E7CC40662}" type="presParOf" srcId="{68D5777B-9A33-4892-9E70-E317E470C712}" destId="{4CFEBF23-0AD0-4D19-981F-A1C992D8C4E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620239-6E29-44AD-9033-D40BCA892B42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7B1E66F-F071-4711-B4A3-7A8B717FA07E}">
      <dgm:prSet/>
      <dgm:spPr/>
      <dgm:t>
        <a:bodyPr/>
        <a:lstStyle/>
        <a:p>
          <a:r>
            <a:rPr lang="en-US"/>
            <a:t>Employees should only be given the roles needed to complete their duties, nothing more.</a:t>
          </a:r>
        </a:p>
      </dgm:t>
    </dgm:pt>
    <dgm:pt modelId="{6A22EDA1-4BDF-4883-94E1-F7807D8F45F3}" type="parTrans" cxnId="{E3317D2D-0329-4273-824B-37B149282F5D}">
      <dgm:prSet/>
      <dgm:spPr/>
      <dgm:t>
        <a:bodyPr/>
        <a:lstStyle/>
        <a:p>
          <a:endParaRPr lang="en-US"/>
        </a:p>
      </dgm:t>
    </dgm:pt>
    <dgm:pt modelId="{AE212935-1048-490E-A72B-A762B921B1E3}" type="sibTrans" cxnId="{E3317D2D-0329-4273-824B-37B149282F5D}">
      <dgm:prSet/>
      <dgm:spPr/>
      <dgm:t>
        <a:bodyPr/>
        <a:lstStyle/>
        <a:p>
          <a:endParaRPr lang="en-US"/>
        </a:p>
      </dgm:t>
    </dgm:pt>
    <dgm:pt modelId="{E4F6A19F-8791-449E-A953-443233BEF7B2}">
      <dgm:prSet/>
      <dgm:spPr/>
      <dgm:t>
        <a:bodyPr/>
        <a:lstStyle/>
        <a:p>
          <a:r>
            <a:rPr lang="en-US"/>
            <a:t>If an employee’s credentials get stolen, it limits the amount of damage that the one incident can do.</a:t>
          </a:r>
        </a:p>
      </dgm:t>
    </dgm:pt>
    <dgm:pt modelId="{F7AC54B6-AEF7-4665-B7CA-477869275179}" type="parTrans" cxnId="{D006BCC6-8F55-4B93-A235-B6758ED90A93}">
      <dgm:prSet/>
      <dgm:spPr/>
      <dgm:t>
        <a:bodyPr/>
        <a:lstStyle/>
        <a:p>
          <a:endParaRPr lang="en-US"/>
        </a:p>
      </dgm:t>
    </dgm:pt>
    <dgm:pt modelId="{B811E771-5FDC-4FB9-982C-0EAD7FB25190}" type="sibTrans" cxnId="{D006BCC6-8F55-4B93-A235-B6758ED90A93}">
      <dgm:prSet/>
      <dgm:spPr/>
      <dgm:t>
        <a:bodyPr/>
        <a:lstStyle/>
        <a:p>
          <a:endParaRPr lang="en-US"/>
        </a:p>
      </dgm:t>
    </dgm:pt>
    <dgm:pt modelId="{B44CB7D1-8042-424A-92BE-73B67D2D37AE}" type="pres">
      <dgm:prSet presAssocID="{AB620239-6E29-44AD-9033-D40BCA892B4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31A544B-8A63-4895-A7BC-E2EAF98579A2}" type="pres">
      <dgm:prSet presAssocID="{D7B1E66F-F071-4711-B4A3-7A8B717FA07E}" presName="hierRoot1" presStyleCnt="0"/>
      <dgm:spPr/>
    </dgm:pt>
    <dgm:pt modelId="{E1C67A1A-0826-4AA7-B22D-13D4EA99262E}" type="pres">
      <dgm:prSet presAssocID="{D7B1E66F-F071-4711-B4A3-7A8B717FA07E}" presName="composite" presStyleCnt="0"/>
      <dgm:spPr/>
    </dgm:pt>
    <dgm:pt modelId="{AD4A7B40-78E7-4188-8018-78C63D5BC64C}" type="pres">
      <dgm:prSet presAssocID="{D7B1E66F-F071-4711-B4A3-7A8B717FA07E}" presName="background" presStyleLbl="node0" presStyleIdx="0" presStyleCnt="2"/>
      <dgm:spPr/>
    </dgm:pt>
    <dgm:pt modelId="{28CB89C0-1055-4E2F-AB49-6567543B6E31}" type="pres">
      <dgm:prSet presAssocID="{D7B1E66F-F071-4711-B4A3-7A8B717FA07E}" presName="text" presStyleLbl="fgAcc0" presStyleIdx="0" presStyleCnt="2">
        <dgm:presLayoutVars>
          <dgm:chPref val="3"/>
        </dgm:presLayoutVars>
      </dgm:prSet>
      <dgm:spPr/>
    </dgm:pt>
    <dgm:pt modelId="{4AD721B9-8582-4CFF-AFDC-E6CEF0E97E90}" type="pres">
      <dgm:prSet presAssocID="{D7B1E66F-F071-4711-B4A3-7A8B717FA07E}" presName="hierChild2" presStyleCnt="0"/>
      <dgm:spPr/>
    </dgm:pt>
    <dgm:pt modelId="{936C877E-96A8-4680-8736-BBB21E80C644}" type="pres">
      <dgm:prSet presAssocID="{E4F6A19F-8791-449E-A953-443233BEF7B2}" presName="hierRoot1" presStyleCnt="0"/>
      <dgm:spPr/>
    </dgm:pt>
    <dgm:pt modelId="{B55CC51D-7E18-4E99-9F36-A660BC9C9EFA}" type="pres">
      <dgm:prSet presAssocID="{E4F6A19F-8791-449E-A953-443233BEF7B2}" presName="composite" presStyleCnt="0"/>
      <dgm:spPr/>
    </dgm:pt>
    <dgm:pt modelId="{328AF78E-3974-491A-9BFB-968C0ED7AAA0}" type="pres">
      <dgm:prSet presAssocID="{E4F6A19F-8791-449E-A953-443233BEF7B2}" presName="background" presStyleLbl="node0" presStyleIdx="1" presStyleCnt="2"/>
      <dgm:spPr/>
    </dgm:pt>
    <dgm:pt modelId="{DF4CC332-618D-44E5-B36C-9E17B173F896}" type="pres">
      <dgm:prSet presAssocID="{E4F6A19F-8791-449E-A953-443233BEF7B2}" presName="text" presStyleLbl="fgAcc0" presStyleIdx="1" presStyleCnt="2">
        <dgm:presLayoutVars>
          <dgm:chPref val="3"/>
        </dgm:presLayoutVars>
      </dgm:prSet>
      <dgm:spPr/>
    </dgm:pt>
    <dgm:pt modelId="{CD4FF94F-85C2-45D4-9C25-54265645D129}" type="pres">
      <dgm:prSet presAssocID="{E4F6A19F-8791-449E-A953-443233BEF7B2}" presName="hierChild2" presStyleCnt="0"/>
      <dgm:spPr/>
    </dgm:pt>
  </dgm:ptLst>
  <dgm:cxnLst>
    <dgm:cxn modelId="{E3317D2D-0329-4273-824B-37B149282F5D}" srcId="{AB620239-6E29-44AD-9033-D40BCA892B42}" destId="{D7B1E66F-F071-4711-B4A3-7A8B717FA07E}" srcOrd="0" destOrd="0" parTransId="{6A22EDA1-4BDF-4883-94E1-F7807D8F45F3}" sibTransId="{AE212935-1048-490E-A72B-A762B921B1E3}"/>
    <dgm:cxn modelId="{29940E2F-AFB3-4454-9C38-942CDDFE111C}" type="presOf" srcId="{D7B1E66F-F071-4711-B4A3-7A8B717FA07E}" destId="{28CB89C0-1055-4E2F-AB49-6567543B6E31}" srcOrd="0" destOrd="0" presId="urn:microsoft.com/office/officeart/2005/8/layout/hierarchy1"/>
    <dgm:cxn modelId="{0AC26EBF-82AE-4335-BF6D-D078050F0E65}" type="presOf" srcId="{E4F6A19F-8791-449E-A953-443233BEF7B2}" destId="{DF4CC332-618D-44E5-B36C-9E17B173F896}" srcOrd="0" destOrd="0" presId="urn:microsoft.com/office/officeart/2005/8/layout/hierarchy1"/>
    <dgm:cxn modelId="{333A7BC6-FC9B-43B1-80C9-82936BAC8BE4}" type="presOf" srcId="{AB620239-6E29-44AD-9033-D40BCA892B42}" destId="{B44CB7D1-8042-424A-92BE-73B67D2D37AE}" srcOrd="0" destOrd="0" presId="urn:microsoft.com/office/officeart/2005/8/layout/hierarchy1"/>
    <dgm:cxn modelId="{D006BCC6-8F55-4B93-A235-B6758ED90A93}" srcId="{AB620239-6E29-44AD-9033-D40BCA892B42}" destId="{E4F6A19F-8791-449E-A953-443233BEF7B2}" srcOrd="1" destOrd="0" parTransId="{F7AC54B6-AEF7-4665-B7CA-477869275179}" sibTransId="{B811E771-5FDC-4FB9-982C-0EAD7FB25190}"/>
    <dgm:cxn modelId="{A073735C-E4FF-47F9-A83B-B9B8493EE871}" type="presParOf" srcId="{B44CB7D1-8042-424A-92BE-73B67D2D37AE}" destId="{031A544B-8A63-4895-A7BC-E2EAF98579A2}" srcOrd="0" destOrd="0" presId="urn:microsoft.com/office/officeart/2005/8/layout/hierarchy1"/>
    <dgm:cxn modelId="{38D250A2-F17C-4B8A-B524-0340EC91D87E}" type="presParOf" srcId="{031A544B-8A63-4895-A7BC-E2EAF98579A2}" destId="{E1C67A1A-0826-4AA7-B22D-13D4EA99262E}" srcOrd="0" destOrd="0" presId="urn:microsoft.com/office/officeart/2005/8/layout/hierarchy1"/>
    <dgm:cxn modelId="{837C8791-AB52-47F7-B68D-4D4841EC904E}" type="presParOf" srcId="{E1C67A1A-0826-4AA7-B22D-13D4EA99262E}" destId="{AD4A7B40-78E7-4188-8018-78C63D5BC64C}" srcOrd="0" destOrd="0" presId="urn:microsoft.com/office/officeart/2005/8/layout/hierarchy1"/>
    <dgm:cxn modelId="{2E0694D9-9A7C-41FE-AC6E-860282C4E910}" type="presParOf" srcId="{E1C67A1A-0826-4AA7-B22D-13D4EA99262E}" destId="{28CB89C0-1055-4E2F-AB49-6567543B6E31}" srcOrd="1" destOrd="0" presId="urn:microsoft.com/office/officeart/2005/8/layout/hierarchy1"/>
    <dgm:cxn modelId="{3412A56B-6838-47ED-B293-87081E6E3259}" type="presParOf" srcId="{031A544B-8A63-4895-A7BC-E2EAF98579A2}" destId="{4AD721B9-8582-4CFF-AFDC-E6CEF0E97E90}" srcOrd="1" destOrd="0" presId="urn:microsoft.com/office/officeart/2005/8/layout/hierarchy1"/>
    <dgm:cxn modelId="{75055CDE-FF4D-47B9-9612-D362AF20A4C6}" type="presParOf" srcId="{B44CB7D1-8042-424A-92BE-73B67D2D37AE}" destId="{936C877E-96A8-4680-8736-BBB21E80C644}" srcOrd="1" destOrd="0" presId="urn:microsoft.com/office/officeart/2005/8/layout/hierarchy1"/>
    <dgm:cxn modelId="{B57C1325-11D8-462C-811B-81DA9939E75D}" type="presParOf" srcId="{936C877E-96A8-4680-8736-BBB21E80C644}" destId="{B55CC51D-7E18-4E99-9F36-A660BC9C9EFA}" srcOrd="0" destOrd="0" presId="urn:microsoft.com/office/officeart/2005/8/layout/hierarchy1"/>
    <dgm:cxn modelId="{808BD030-4CE7-46E2-BC76-2B7987D711A7}" type="presParOf" srcId="{B55CC51D-7E18-4E99-9F36-A660BC9C9EFA}" destId="{328AF78E-3974-491A-9BFB-968C0ED7AAA0}" srcOrd="0" destOrd="0" presId="urn:microsoft.com/office/officeart/2005/8/layout/hierarchy1"/>
    <dgm:cxn modelId="{C5AA2350-E33E-4758-9633-CC0876F36471}" type="presParOf" srcId="{B55CC51D-7E18-4E99-9F36-A660BC9C9EFA}" destId="{DF4CC332-618D-44E5-B36C-9E17B173F896}" srcOrd="1" destOrd="0" presId="urn:microsoft.com/office/officeart/2005/8/layout/hierarchy1"/>
    <dgm:cxn modelId="{8970ADFB-5F4E-462F-8526-66FB4D7EB33A}" type="presParOf" srcId="{936C877E-96A8-4680-8736-BBB21E80C644}" destId="{CD4FF94F-85C2-45D4-9C25-54265645D1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46001-F5BF-4DB0-B691-ED01FD28A1E1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329FE-204C-4081-BAFF-687FA53BE0D5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With how valuable source code is to an organization, it’s important to protect it from bad actors.</a:t>
          </a:r>
        </a:p>
      </dsp:txBody>
      <dsp:txXfrm>
        <a:off x="59990" y="2654049"/>
        <a:ext cx="3226223" cy="720000"/>
      </dsp:txXfrm>
    </dsp:sp>
    <dsp:sp modelId="{A1119817-06B2-4B30-8A55-EBC071CBA410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3E486-973F-4284-81BA-1C1313E1F7EF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singular layer of security is rarely enough, so it’s better to use defense in depth – multiple security options that can build on top of each other.</a:t>
          </a:r>
        </a:p>
      </dsp:txBody>
      <dsp:txXfrm>
        <a:off x="3850802" y="2654049"/>
        <a:ext cx="3226223" cy="720000"/>
      </dsp:txXfrm>
    </dsp:sp>
    <dsp:sp modelId="{4733F519-EC0D-469B-A286-DA63913ECE48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EBF23-0AD0-4D19-981F-A1C992D8C4E4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Without proper security measures, organizations are vulnerable to threats like data breaches and software theft.</a:t>
          </a:r>
        </a:p>
      </dsp:txBody>
      <dsp:txXfrm>
        <a:off x="7641615" y="2654049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A7B40-78E7-4188-8018-78C63D5BC64C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B89C0-1055-4E2F-AB49-6567543B6E3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Employees should only be given the roles needed to complete their duties, nothing more.</a:t>
          </a:r>
        </a:p>
      </dsp:txBody>
      <dsp:txXfrm>
        <a:off x="696297" y="538547"/>
        <a:ext cx="4171627" cy="2590157"/>
      </dsp:txXfrm>
    </dsp:sp>
    <dsp:sp modelId="{328AF78E-3974-491A-9BFB-968C0ED7AAA0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CC332-618D-44E5-B36C-9E17B173F896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an employee’s credentials get stolen, it limits the amount of damage that the one incident can do.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7613-36F4-6385-CF8E-09BC595A6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A925F-E66D-1403-D466-294C0C28F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DE04-04D4-6865-F753-7231838C3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21A40-A8BA-FBC8-EF7D-9E79E0D3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842E9-4C99-6FAF-2CD5-CE9E4BA4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3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FA59-88B1-E54E-E8A0-B87D3521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0BC3-0415-1766-3B76-00AD1CC28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F2219-6DE6-7D82-4888-18191020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12CE6-F773-08FF-85F0-BB704BFF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5C088-4AB6-1AF3-CF17-882F72CF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4555-E1D8-A29A-A757-5FB2BE1F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D5C4F-1B43-D409-752C-B1962B521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46E2B-8F74-CE7B-4AE1-D905FD9C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C9A5D-C1B2-B099-F720-42A2A407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C69B7-AEBE-A826-BFAC-0B14C8B9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6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E748-A449-00BA-8E31-EB139001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AE456-603F-9B57-65A1-3FFF7B23F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9A71A-B569-B0CE-F8B7-F15BC541D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78A43-CC7B-FBA1-86DD-CB6A1047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1E200-9D14-956B-1BF1-25717847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9E596-73EF-8018-E96F-77226694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8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1704-2145-50D2-066F-D6FDEC2B2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256DF-00CB-B5FD-AB81-2B85AC49D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7B443-564D-CD9B-5915-C4BB94DD8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A1AEE-2BFD-5670-3BD0-8F93B293E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AE4A3-D106-A69B-FC7B-8AC1E6BF0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776F65-10D5-B35A-ECE6-8654AA6C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9FEE3-AF59-1B4C-C4BF-A57EFF8C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F02B9-1BFA-E4F1-E85D-924E02E2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374D-0C6B-9A4A-82A4-27EDB69F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A744E-CEE9-70CE-9BE5-FBDCCFB6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6DE90-5881-2F6C-97DD-40396C1E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9AAB3-4EB2-2F62-4ACF-EE1E2C99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8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89036-EE6C-FFCC-87A7-2443DBA4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BEBE4-AAE0-4EF2-444D-643CBB03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F83E4-5DF7-C923-5061-E3A55C4B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2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D47D-2E20-F48B-4155-1BCED0FE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31E60-77C4-D4F5-8A56-CAEC0677E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46F38-D3E2-D94A-12FB-D7515D60B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21EF0-8B7B-91E5-DF40-9973F80E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96BD8-800B-ADEB-9CB5-6F7F7216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62BF9-1A08-5765-CF09-7814E383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BA61-D76B-FBB1-7A97-1DFFA4070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557AD-991F-7ECB-FFF5-DF9A57CC3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49118-1018-E68A-3A74-9E734F45F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FA87B-06AF-DB2F-ED9F-E68E39B3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54322-0246-65D3-8F2A-83115017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9455E-EE6D-FBDA-38EB-522D7F52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2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351A-D998-B6FF-C704-DC2D7519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070E5-92BB-4A5A-82D6-017522704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4B2EF-8D4B-702B-A751-14746D07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6A7BB-5BF1-5E3D-314A-152F9B20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3A3B-EF44-701C-94B1-709639DF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3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6B777-0DD4-392D-3DC1-1CF8DC9A9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B0F01-0269-22E2-5EA5-F5BD40EE9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08D31-3B64-1B0A-1B40-0A7DAC62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F8C1-77F2-609B-7925-B2686010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874BE-BB32-78BA-9194-8EBF3174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3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5D2251-7594-7261-FECB-7EA0ADAA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ABAF0-2735-78EB-A8CE-F1E7BD36F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EDEF-C478-2ED0-5EF5-31F35C0B2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9CC00-3582-4C72-8694-DB8DB6B3FAC5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4F492-91E7-4152-A155-05A709E40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DE893-1632-75CB-D4BA-0A4DA47FE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151B7-9C24-4CB2-B932-38A2C5933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2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sc.gov.uk/collection/developers-collection/principles/protect-your-code-repository" TargetMode="External"/><Relationship Id="rId2" Type="http://schemas.openxmlformats.org/officeDocument/2006/relationships/hyperlink" Target="https://get.assembla.com/blog/source-code-securit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BDACD-2D12-E2B3-C185-E82AA049C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6B547-4861-EB7B-B008-303B13246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Truman Forey</a:t>
            </a:r>
          </a:p>
          <a:p>
            <a:r>
              <a:rPr lang="en-US" sz="1100">
                <a:solidFill>
                  <a:srgbClr val="FFFFFF"/>
                </a:solidFill>
              </a:rPr>
              <a:t>CSD-430</a:t>
            </a:r>
          </a:p>
          <a:p>
            <a:r>
              <a:rPr lang="en-US" sz="1100">
                <a:solidFill>
                  <a:srgbClr val="FFFFFF"/>
                </a:solidFill>
              </a:rPr>
              <a:t>7/20/2025</a:t>
            </a:r>
          </a:p>
        </p:txBody>
      </p:sp>
    </p:spTree>
    <p:extLst>
      <p:ext uri="{BB962C8B-B14F-4D97-AF65-F5344CB8AC3E}">
        <p14:creationId xmlns:p14="http://schemas.microsoft.com/office/powerpoint/2010/main" val="339119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3570F-A334-4EF7-69BA-033AE3006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3457B2-E1F5-54B8-3BA6-0DEFDE05AE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9401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258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28652-8D3B-3833-B1D8-BEC1AB71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Are Some Best Practices?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61FCA-3B57-09DD-EAF4-FE00837CC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Multi-factor authentication is a simple tool that stops basic fake login attempts.</a:t>
            </a:r>
          </a:p>
          <a:p>
            <a:r>
              <a:rPr lang="en-US" sz="2000"/>
              <a:t>Carefully managing which employees have access to which files limits the ability for any single individual to cause damage.</a:t>
            </a:r>
          </a:p>
          <a:p>
            <a:r>
              <a:rPr lang="en-US" sz="2000"/>
              <a:t>Deploying encryption tools on source code makes it less likely to be useful during a data breach event.</a:t>
            </a:r>
          </a:p>
        </p:txBody>
      </p:sp>
    </p:spTree>
    <p:extLst>
      <p:ext uri="{BB962C8B-B14F-4D97-AF65-F5344CB8AC3E}">
        <p14:creationId xmlns:p14="http://schemas.microsoft.com/office/powerpoint/2010/main" val="31408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6B986-0F94-78B3-2ABA-A53E2F2F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Multi-Factor Authentication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3D02A-18DD-73CC-CCFB-3D410FE9C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Multi-Factor Authentication requires providing more forms of identity, such as a password and a one-time PIN code.</a:t>
            </a:r>
          </a:p>
          <a:p>
            <a:pPr lvl="1"/>
            <a:r>
              <a:rPr lang="en-US" dirty="0"/>
              <a:t>Typically takes the form of Two-Factor Authentication (2FA), where only 1 extra form of ID is necessary.</a:t>
            </a:r>
          </a:p>
          <a:p>
            <a:pPr lvl="1"/>
            <a:r>
              <a:rPr lang="en-US" dirty="0"/>
              <a:t>However, more forms of ID can be used for high-security access – at the cost of employee convenience.</a:t>
            </a:r>
          </a:p>
          <a:p>
            <a:r>
              <a:rPr lang="en-US" sz="2400"/>
              <a:t>Especially important for employees that work remotely.</a:t>
            </a:r>
          </a:p>
        </p:txBody>
      </p:sp>
    </p:spTree>
    <p:extLst>
      <p:ext uri="{BB962C8B-B14F-4D97-AF65-F5344CB8AC3E}">
        <p14:creationId xmlns:p14="http://schemas.microsoft.com/office/powerpoint/2010/main" val="157286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1CF26-8B38-E51E-FECC-35B85BCB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Access Privilege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845A5F-5E81-4AD9-D1FD-84DE35AB1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326773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60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0A8B5-223F-BD9D-E051-01AD3989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Encryption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9C0A6-B4BD-142D-6F6A-EF949D7A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Encrypting source code minimizes the damage that can be caused during a possible data breach.</a:t>
            </a:r>
          </a:p>
          <a:p>
            <a:pPr lvl="1"/>
            <a:r>
              <a:rPr lang="en-US" sz="2000"/>
              <a:t>Other parts of the application, such as API keys and general database data, can also be encrypted for safety.</a:t>
            </a:r>
          </a:p>
          <a:p>
            <a:r>
              <a:rPr lang="en-US" sz="2000"/>
              <a:t>This also includes tracking decryption keys, to monitor which individuals have the ability to decrypt data.</a:t>
            </a:r>
          </a:p>
        </p:txBody>
      </p:sp>
    </p:spTree>
    <p:extLst>
      <p:ext uri="{BB962C8B-B14F-4D97-AF65-F5344CB8AC3E}">
        <p14:creationId xmlns:p14="http://schemas.microsoft.com/office/powerpoint/2010/main" val="4100605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874D8-DFF6-09F0-A131-8C31BAC3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7D84E33-4118-8F0E-0F13-1DE69B7FF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/>
              <a:t>Protecting source code is a vital part of any security plan.</a:t>
            </a:r>
          </a:p>
          <a:p>
            <a:r>
              <a:rPr lang="en-US" sz="2000"/>
              <a:t>The various security tools used should build on top of and reinforce the others.</a:t>
            </a:r>
          </a:p>
          <a:p>
            <a:r>
              <a:rPr lang="en-US" sz="2000"/>
              <a:t>Tools such as MFA, encryption, and access management all contribute to protecting source code.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5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09902-14B2-F04D-0CC2-DEF243C4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Sources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1301B-5280-53BF-1394-C2A6D321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000" u="sng">
                <a:hlinkClick r:id="rId2"/>
              </a:rPr>
              <a:t>https://get.assembla.com/blog/source-code-security/</a:t>
            </a:r>
            <a:r>
              <a:rPr lang="en-US" sz="2000"/>
              <a:t> </a:t>
            </a:r>
          </a:p>
          <a:p>
            <a:pPr fontAlgn="base"/>
            <a:r>
              <a:rPr lang="en-US" sz="2000" u="sng">
                <a:hlinkClick r:id="rId3"/>
              </a:rPr>
              <a:t>https://www.ncsc.gov.uk/collection/developers-collection/principles/protect-your-code-repository</a:t>
            </a:r>
            <a:r>
              <a:rPr lang="en-US" sz="2000"/>
              <a:t> </a:t>
            </a:r>
            <a:endParaRPr lang="en-US" sz="2000" b="0" i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50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378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Security Controls in Shared Source Code Repositories</vt:lpstr>
      <vt:lpstr>Introduction</vt:lpstr>
      <vt:lpstr>What Are Some Best Practices?</vt:lpstr>
      <vt:lpstr>Multi-Factor Authentication</vt:lpstr>
      <vt:lpstr>Access Privilege</vt:lpstr>
      <vt:lpstr>Encryption Tools</vt:lpstr>
      <vt:lpstr>Conclusion</vt:lpstr>
      <vt:lpstr>Sources Used: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Truman Forey</dc:creator>
  <cp:lastModifiedBy>Truman Forey</cp:lastModifiedBy>
  <cp:revision>3</cp:revision>
  <dcterms:created xsi:type="dcterms:W3CDTF">2025-07-21T00:46:42Z</dcterms:created>
  <dcterms:modified xsi:type="dcterms:W3CDTF">2025-07-21T02:28:14Z</dcterms:modified>
</cp:coreProperties>
</file>